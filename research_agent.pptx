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77" r:id="rId7"/>
    <p:sldId id="278" r:id="rId8"/>
    <p:sldId id="267" r:id="rId9"/>
    <p:sldId id="268" r:id="rId10"/>
    <p:sldId id="269" r:id="rId11"/>
    <p:sldId id="273" r:id="rId12"/>
    <p:sldId id="275" r:id="rId13"/>
    <p:sldId id="274" r:id="rId14"/>
    <p:sldId id="276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2" roundtripDataSignature="AMtx7mgb3W1nguJpyLvdkVeio7GQyZY/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063BE5B-8E01-4B91-9C5C-8479B17E1E5F}">
  <a:tblStyle styleId="{F063BE5B-8E01-4B91-9C5C-8479B17E1E5F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3" name="Google Shape;93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9" name="Google Shape;99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5" name="Google Shape;105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>
          <a:extLst>
            <a:ext uri="{FF2B5EF4-FFF2-40B4-BE49-F238E27FC236}">
              <a16:creationId xmlns:a16="http://schemas.microsoft.com/office/drawing/2014/main" id="{E1557087-7D92-A992-8A1E-6659FD9A0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1:notes">
            <a:extLst>
              <a:ext uri="{FF2B5EF4-FFF2-40B4-BE49-F238E27FC236}">
                <a16:creationId xmlns:a16="http://schemas.microsoft.com/office/drawing/2014/main" id="{34A2A428-B8D1-E14E-1918-80535C8A66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p41:notes">
            <a:extLst>
              <a:ext uri="{FF2B5EF4-FFF2-40B4-BE49-F238E27FC236}">
                <a16:creationId xmlns:a16="http://schemas.microsoft.com/office/drawing/2014/main" id="{B735F590-889C-43FD-43E5-444A35F7FB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7919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>
          <a:extLst>
            <a:ext uri="{FF2B5EF4-FFF2-40B4-BE49-F238E27FC236}">
              <a16:creationId xmlns:a16="http://schemas.microsoft.com/office/drawing/2014/main" id="{83563FCE-F160-7F9E-5841-F8F44F188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1:notes">
            <a:extLst>
              <a:ext uri="{FF2B5EF4-FFF2-40B4-BE49-F238E27FC236}">
                <a16:creationId xmlns:a16="http://schemas.microsoft.com/office/drawing/2014/main" id="{43DF1DF1-D027-97B6-C322-F6327866D5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p41:notes">
            <a:extLst>
              <a:ext uri="{FF2B5EF4-FFF2-40B4-BE49-F238E27FC236}">
                <a16:creationId xmlns:a16="http://schemas.microsoft.com/office/drawing/2014/main" id="{3E6E80E2-0054-4109-2E4A-231CBAADE1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91827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0" name="Google Shape;170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>
          <a:extLst>
            <a:ext uri="{FF2B5EF4-FFF2-40B4-BE49-F238E27FC236}">
              <a16:creationId xmlns:a16="http://schemas.microsoft.com/office/drawing/2014/main" id="{64C06BF4-C151-4A6B-5806-6532A88D4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3:notes">
            <a:extLst>
              <a:ext uri="{FF2B5EF4-FFF2-40B4-BE49-F238E27FC236}">
                <a16:creationId xmlns:a16="http://schemas.microsoft.com/office/drawing/2014/main" id="{5A83D1E3-A1B4-4127-B939-8A5A71A507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43:notes">
            <a:extLst>
              <a:ext uri="{FF2B5EF4-FFF2-40B4-BE49-F238E27FC236}">
                <a16:creationId xmlns:a16="http://schemas.microsoft.com/office/drawing/2014/main" id="{77BD9CE0-C6D7-26CE-DBF4-0007381123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49259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>
          <a:extLst>
            <a:ext uri="{FF2B5EF4-FFF2-40B4-BE49-F238E27FC236}">
              <a16:creationId xmlns:a16="http://schemas.microsoft.com/office/drawing/2014/main" id="{4090143D-78C6-C158-1A93-CD903AB55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4:notes">
            <a:extLst>
              <a:ext uri="{FF2B5EF4-FFF2-40B4-BE49-F238E27FC236}">
                <a16:creationId xmlns:a16="http://schemas.microsoft.com/office/drawing/2014/main" id="{A91BCA76-6E7C-D101-4B8B-A4F0B643C2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44:notes">
            <a:extLst>
              <a:ext uri="{FF2B5EF4-FFF2-40B4-BE49-F238E27FC236}">
                <a16:creationId xmlns:a16="http://schemas.microsoft.com/office/drawing/2014/main" id="{BFCC0FFA-76A7-D8BD-AC18-311998D741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18316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>
          <a:extLst>
            <a:ext uri="{FF2B5EF4-FFF2-40B4-BE49-F238E27FC236}">
              <a16:creationId xmlns:a16="http://schemas.microsoft.com/office/drawing/2014/main" id="{072ECFCE-E305-58CC-0082-3FEFC1AE8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4:notes">
            <a:extLst>
              <a:ext uri="{FF2B5EF4-FFF2-40B4-BE49-F238E27FC236}">
                <a16:creationId xmlns:a16="http://schemas.microsoft.com/office/drawing/2014/main" id="{ADA39F96-BD64-5E70-F67A-59F046370E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44:notes">
            <a:extLst>
              <a:ext uri="{FF2B5EF4-FFF2-40B4-BE49-F238E27FC236}">
                <a16:creationId xmlns:a16="http://schemas.microsoft.com/office/drawing/2014/main" id="{EB7078E4-6F76-091A-AE74-259612CB12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82336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>
          <a:extLst>
            <a:ext uri="{FF2B5EF4-FFF2-40B4-BE49-F238E27FC236}">
              <a16:creationId xmlns:a16="http://schemas.microsoft.com/office/drawing/2014/main" id="{0F6683DD-DA5F-D47C-8ACF-FBECC4090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4:notes">
            <a:extLst>
              <a:ext uri="{FF2B5EF4-FFF2-40B4-BE49-F238E27FC236}">
                <a16:creationId xmlns:a16="http://schemas.microsoft.com/office/drawing/2014/main" id="{5580E024-AE36-4450-DD98-3016F1CABD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44:notes">
            <a:extLst>
              <a:ext uri="{FF2B5EF4-FFF2-40B4-BE49-F238E27FC236}">
                <a16:creationId xmlns:a16="http://schemas.microsoft.com/office/drawing/2014/main" id="{070097D2-FA14-E9C0-26DE-A092D13410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93475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3" name="Google Shape;19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24054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686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3865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815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824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128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738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303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23924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96692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56634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158399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595287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53311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94139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9885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881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386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  <p:sldLayoutId id="2147483761" r:id="rId13"/>
    <p:sldLayoutId id="2147483762" r:id="rId14"/>
    <p:sldLayoutId id="2147483763" r:id="rId15"/>
    <p:sldLayoutId id="2147483764" r:id="rId16"/>
    <p:sldLayoutId id="2147483765" r:id="rId17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asjot-01/Research_agent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research-agent-3btl.onrender.com/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3"/>
          <p:cNvSpPr txBox="1">
            <a:spLocks noGrp="1"/>
          </p:cNvSpPr>
          <p:nvPr>
            <p:ph type="title"/>
          </p:nvPr>
        </p:nvSpPr>
        <p:spPr>
          <a:xfrm>
            <a:off x="2407687" y="2149897"/>
            <a:ext cx="8930747" cy="2110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 sz="6600" b="1" dirty="0"/>
              <a:t>IBM University Engagement Project Submission</a:t>
            </a:r>
            <a:br>
              <a:rPr lang="en-US" b="1" dirty="0"/>
            </a:br>
            <a:endParaRPr dirty="0"/>
          </a:p>
        </p:txBody>
      </p:sp>
      <p:sp>
        <p:nvSpPr>
          <p:cNvPr id="79" name="Google Shape;79;p33"/>
          <p:cNvSpPr txBox="1">
            <a:spLocks noGrp="1"/>
          </p:cNvSpPr>
          <p:nvPr>
            <p:ph type="body" idx="1"/>
          </p:nvPr>
        </p:nvSpPr>
        <p:spPr>
          <a:xfrm>
            <a:off x="1407922" y="3912807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n-US" b="1" i="1" dirty="0"/>
              <a:t>“Exploring the Power of Agentic AI with IBM  Cloud”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86" name="Google Shape;86;p2"/>
          <p:cNvGraphicFramePr/>
          <p:nvPr>
            <p:extLst>
              <p:ext uri="{D42A27DB-BD31-4B8C-83A1-F6EECF244321}">
                <p14:modId xmlns:p14="http://schemas.microsoft.com/office/powerpoint/2010/main" val="827256795"/>
              </p:ext>
            </p:extLst>
          </p:nvPr>
        </p:nvGraphicFramePr>
        <p:xfrm>
          <a:off x="1299257" y="2600315"/>
          <a:ext cx="9395000" cy="2167125"/>
        </p:xfrm>
        <a:graphic>
          <a:graphicData uri="http://schemas.openxmlformats.org/drawingml/2006/table">
            <a:tbl>
              <a:tblPr>
                <a:noFill/>
                <a:tableStyleId>{F063BE5B-8E01-4B91-9C5C-8479B17E1E5F}</a:tableStyleId>
              </a:tblPr>
              <a:tblGrid>
                <a:gridCol w="206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43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3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73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Student Name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Recent Passport Photo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Email ID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Mobile number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[WhatsApp]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3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/>
                        <a:t>    JASJOT SINGH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3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/>
                        <a:t>   jasjots50@gmail.com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3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/>
                        <a:t>          6299322456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8" name="Google Shape;88;p2"/>
          <p:cNvSpPr txBox="1"/>
          <p:nvPr/>
        </p:nvSpPr>
        <p:spPr>
          <a:xfrm>
            <a:off x="1299257" y="1400398"/>
            <a:ext cx="1028025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Domain of  Project –  Education</a:t>
            </a:r>
            <a:endParaRPr sz="2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2"/>
          <p:cNvSpPr txBox="1"/>
          <p:nvPr/>
        </p:nvSpPr>
        <p:spPr>
          <a:xfrm>
            <a:off x="1434762" y="496713"/>
            <a:ext cx="958117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2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Tile – </a:t>
            </a:r>
            <a:r>
              <a:rPr lang="en-US" sz="24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 Agent</a:t>
            </a:r>
            <a:endParaRPr sz="2400" b="1" i="0" u="none" strike="noStrike" cap="none" dirty="0">
              <a:solidFill>
                <a:srgbClr val="00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07FE734-12E0-F91A-7916-4C4BC091EF6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837"/>
          <a:stretch>
            <a:fillRect/>
          </a:stretch>
        </p:blipFill>
        <p:spPr>
          <a:xfrm>
            <a:off x="4184905" y="3683877"/>
            <a:ext cx="761999" cy="96198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4"/>
          <p:cNvSpPr txBox="1"/>
          <p:nvPr/>
        </p:nvSpPr>
        <p:spPr>
          <a:xfrm>
            <a:off x="1389888" y="1307592"/>
            <a:ext cx="9774936" cy="3539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/>
            <a:r>
              <a:rPr lang="en-US"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Research Agent is an AI system designed to assist with academic and scientific research tasks. It can autonomously search for literature, summarize papers, and organize references.</a:t>
            </a:r>
          </a:p>
          <a:p>
            <a:pPr lvl="0" algn="just"/>
            <a:endParaRPr lang="en-US" sz="16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 algn="just"/>
            <a:r>
              <a:rPr lang="en-US"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Using natural language processing, it understands research questions and retrieves relevant </a:t>
            </a:r>
          </a:p>
          <a:p>
            <a:pPr lvl="0" algn="just"/>
            <a:r>
              <a:rPr lang="en-US"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information.</a:t>
            </a:r>
          </a:p>
          <a:p>
            <a:pPr lvl="0" algn="just"/>
            <a:endParaRPr lang="en-US" sz="16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lvl="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agent can generate reports, suggest hypotheses, and even draft sections of research papers.</a:t>
            </a:r>
          </a:p>
          <a:p>
            <a:pPr marL="285750" lvl="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saves time by automating repetitive tasks like citation management and data extraction.</a:t>
            </a:r>
          </a:p>
          <a:p>
            <a:pPr marL="285750" lvl="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 Agents enhance efficiency, accuracy, and innovation in both academic and industrial R&amp;D.</a:t>
            </a:r>
            <a:r>
              <a:rPr lang="en-US" sz="160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 </a:t>
            </a:r>
            <a:endParaRPr sz="2000"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34"/>
          <p:cNvSpPr txBox="1"/>
          <p:nvPr/>
        </p:nvSpPr>
        <p:spPr>
          <a:xfrm>
            <a:off x="1453896" y="603504"/>
            <a:ext cx="721461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sng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 Statement -</a:t>
            </a:r>
            <a:endParaRPr sz="2400" b="1" i="0" u="sng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5"/>
          <p:cNvSpPr txBox="1"/>
          <p:nvPr/>
        </p:nvSpPr>
        <p:spPr>
          <a:xfrm>
            <a:off x="1452164" y="1214376"/>
            <a:ext cx="10607040" cy="4824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IN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proposed solution is an </a:t>
            </a:r>
            <a:r>
              <a:rPr lang="en-IN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AI-Powered Research Agent</a:t>
            </a:r>
            <a:r>
              <a:rPr lang="en-IN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developed using </a:t>
            </a:r>
            <a:r>
              <a:rPr lang="en-IN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Python Flask</a:t>
            </a:r>
            <a:r>
              <a:rPr lang="en-IN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IN" sz="1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ibm</a:t>
            </a:r>
            <a:r>
              <a:rPr lang="en-IN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watsonx</a:t>
            </a:r>
            <a:r>
              <a:rPr lang="en-IN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, students, and academics throughout the research process.</a:t>
            </a:r>
          </a:p>
          <a:p>
            <a:endParaRPr lang="en-IN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system provides a conversational interface where users can: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Search and explore research topics.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Summarize research papers and long academic texts.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Generate citations in APA and other citation styles.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Draft research paper sections such as Introduction, Literature Review, and Methodology.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Generate research ideas and hypotheses.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Manage research projects, notes, and citations.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Maintain conversation history for context-aware responses. </a:t>
            </a:r>
          </a:p>
          <a:p>
            <a:endParaRPr lang="en-IN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IN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backend is built using </a:t>
            </a:r>
            <a:r>
              <a:rPr lang="en-IN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Flask REST APIs. </a:t>
            </a:r>
            <a:r>
              <a:rPr lang="en-IN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application uses configurable </a:t>
            </a:r>
            <a:r>
              <a:rPr lang="en-IN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Agent Instructions</a:t>
            </a:r>
            <a:r>
              <a:rPr lang="en-IN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customize the AI's behaviour, tone, capabilities, and safety guidelines without changing the core code. Environment variables stored in a </a:t>
            </a:r>
            <a:r>
              <a:rPr lang="en-IN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.env</a:t>
            </a:r>
            <a:r>
              <a:rPr lang="en-IN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file securely manage API keys and application settings.</a:t>
            </a:r>
          </a:p>
          <a:p>
            <a:pPr algn="just"/>
            <a:r>
              <a:rPr lang="en-IN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solution reduces the time required for literature review, academic writing, citation management, and research planning while providing accurate, organized, and user-friendly AI assistance.</a:t>
            </a:r>
          </a:p>
        </p:txBody>
      </p:sp>
      <p:sp>
        <p:nvSpPr>
          <p:cNvPr id="102" name="Google Shape;102;p35"/>
          <p:cNvSpPr txBox="1"/>
          <p:nvPr/>
        </p:nvSpPr>
        <p:spPr>
          <a:xfrm>
            <a:off x="1581912" y="530352"/>
            <a:ext cx="721461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sng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Proposed Solution -</a:t>
            </a:r>
            <a:endParaRPr sz="2400" b="1" i="0" u="sng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6"/>
          <p:cNvSpPr txBox="1"/>
          <p:nvPr/>
        </p:nvSpPr>
        <p:spPr>
          <a:xfrm>
            <a:off x="1554480" y="420624"/>
            <a:ext cx="712317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sng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Technology Used</a:t>
            </a:r>
            <a:endParaRPr sz="2400" b="1" i="0" u="sng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36"/>
          <p:cNvSpPr txBox="1"/>
          <p:nvPr/>
        </p:nvSpPr>
        <p:spPr>
          <a:xfrm>
            <a:off x="1472184" y="1188720"/>
            <a:ext cx="10515600" cy="3293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IBM </a:t>
            </a:r>
            <a:r>
              <a:rPr lang="en-US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Watson.ai runtime</a:t>
            </a:r>
            <a:r>
              <a:rPr lang="en-US" sz="1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 for 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eg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</a:t>
            </a:r>
            <a:r>
              <a:rPr lang="en-US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llama-3-3-70b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–instruct For natural language understanding, reasoning, and personalization</a:t>
            </a:r>
            <a:endParaRPr dirty="0"/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IBM Cloud 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 It provides the infrastructure to build, deploy, and scale the Nutrition Agent efficiently. IBM Cloud enables a </a:t>
            </a:r>
            <a:r>
              <a:rPr lang="en-US" sz="1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reliable, secure, and scalable environment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deploying the Nutrition Agent.</a:t>
            </a:r>
            <a:endParaRPr dirty="0"/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IBM Watsonx.ai - 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model deployment, embeddings, and AI governance</a:t>
            </a:r>
            <a:endParaRPr dirty="0"/>
          </a:p>
          <a:p>
            <a:pPr marL="1143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endParaRPr lang="en-US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000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HTML/CSS/JavaScript- </a:t>
            </a:r>
            <a:r>
              <a:rPr lang="en-US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static frontend, chatting with bot with day/night </a:t>
            </a:r>
            <a:endParaRPr sz="1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>
          <a:extLst>
            <a:ext uri="{FF2B5EF4-FFF2-40B4-BE49-F238E27FC236}">
              <a16:creationId xmlns:a16="http://schemas.microsoft.com/office/drawing/2014/main" id="{506E6E85-2D7F-6FA7-9940-C61441816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1">
            <a:extLst>
              <a:ext uri="{FF2B5EF4-FFF2-40B4-BE49-F238E27FC236}">
                <a16:creationId xmlns:a16="http://schemas.microsoft.com/office/drawing/2014/main" id="{06F98444-B918-4CB3-9D88-F78F6716FE8D}"/>
              </a:ext>
            </a:extLst>
          </p:cNvPr>
          <p:cNvSpPr/>
          <p:nvPr/>
        </p:nvSpPr>
        <p:spPr>
          <a:xfrm>
            <a:off x="1690112" y="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i="0" u="sng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Code &amp; Deployment :</a:t>
            </a:r>
            <a:endParaRPr sz="2400" b="1" i="0" u="sng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275B89-5262-C195-CB54-7F03EC951E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7112" y="582930"/>
            <a:ext cx="5059680" cy="284607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C45ACEC-A44E-C49C-DBE0-33DB3B7838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3792" y="581400"/>
            <a:ext cx="5062400" cy="28476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BF3F25F-CF2D-D401-E01F-539474C52E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7112" y="3566160"/>
            <a:ext cx="5062400" cy="28476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D651874-4287-F14C-8EF3-6216079AED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3792" y="3566160"/>
            <a:ext cx="5062400" cy="284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8358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>
          <a:extLst>
            <a:ext uri="{FF2B5EF4-FFF2-40B4-BE49-F238E27FC236}">
              <a16:creationId xmlns:a16="http://schemas.microsoft.com/office/drawing/2014/main" id="{8ABF0E1A-B658-BC0E-92E5-82025078B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1">
            <a:extLst>
              <a:ext uri="{FF2B5EF4-FFF2-40B4-BE49-F238E27FC236}">
                <a16:creationId xmlns:a16="http://schemas.microsoft.com/office/drawing/2014/main" id="{A8816562-4915-3392-175D-8515F29BA4DA}"/>
              </a:ext>
            </a:extLst>
          </p:cNvPr>
          <p:cNvSpPr/>
          <p:nvPr/>
        </p:nvSpPr>
        <p:spPr>
          <a:xfrm>
            <a:off x="1690112" y="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i="0" u="sng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Code &amp; Deployment :</a:t>
            </a:r>
            <a:endParaRPr sz="2400" b="1" i="0" u="sng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A3887A-EA9E-1477-C07B-9889070926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0112" y="783321"/>
            <a:ext cx="5040000" cy="26895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3A46390-1410-6F92-3B7C-101551E967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4093" y="783321"/>
            <a:ext cx="5040000" cy="271409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2CD185E-A11C-D773-5AF3-CF10A7CEC8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0112" y="3647167"/>
            <a:ext cx="5040000" cy="271864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4F9FBAA-4F58-D119-1A04-AA2009BACB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4093" y="3629714"/>
            <a:ext cx="5040000" cy="2702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4501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1"/>
          <p:cNvSpPr/>
          <p:nvPr/>
        </p:nvSpPr>
        <p:spPr>
          <a:xfrm>
            <a:off x="1750437" y="419622"/>
            <a:ext cx="6444496" cy="14187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i="0" u="sng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Git Hub Link:-</a:t>
            </a:r>
          </a:p>
          <a:p>
            <a:pPr lvl="0">
              <a:lnSpc>
                <a:spcPct val="200000"/>
              </a:lnSpc>
              <a:buClr>
                <a:srgbClr val="051D3A"/>
              </a:buClr>
              <a:buSzPts val="3500"/>
            </a:pPr>
            <a:r>
              <a:rPr lang="en-US" sz="2400" b="1" u="sng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https://github.com/jasjot-01/Research_agent</a:t>
            </a:r>
            <a:r>
              <a:rPr lang="en-US" sz="2400" b="1" u="sng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2400" b="1" i="0" u="sng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998BE1-2CE1-1045-BD09-D77B14B07A0F}"/>
              </a:ext>
            </a:extLst>
          </p:cNvPr>
          <p:cNvSpPr txBox="1"/>
          <p:nvPr/>
        </p:nvSpPr>
        <p:spPr>
          <a:xfrm>
            <a:off x="1557359" y="2648605"/>
            <a:ext cx="6830652" cy="13181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u="sng" dirty="0"/>
              <a:t>Deployment Link:-</a:t>
            </a:r>
          </a:p>
          <a:p>
            <a:pPr>
              <a:lnSpc>
                <a:spcPct val="150000"/>
              </a:lnSpc>
            </a:pPr>
            <a:r>
              <a:rPr lang="en-IN" sz="2800" b="1" u="sng" dirty="0">
                <a:hlinkClick r:id="rId4"/>
              </a:rPr>
              <a:t>https://research-agent-3btl.onrender.com/</a:t>
            </a:r>
            <a:r>
              <a:rPr lang="en-IN" sz="2800" b="1" u="sng" dirty="0"/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2"/>
          <p:cNvSpPr/>
          <p:nvPr/>
        </p:nvSpPr>
        <p:spPr>
          <a:xfrm>
            <a:off x="1730752" y="340246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i="0" u="sng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Future Scope </a:t>
            </a:r>
            <a:endParaRPr sz="2400" b="1" i="0" u="sng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42"/>
          <p:cNvSpPr/>
          <p:nvPr/>
        </p:nvSpPr>
        <p:spPr>
          <a:xfrm>
            <a:off x="1488710" y="1221715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lvl="0" indent="-342900"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r>
              <a:rPr lang="en-IN" sz="2000" b="1" dirty="0"/>
              <a:t>PDF and Document Upload:</a:t>
            </a:r>
            <a:r>
              <a:rPr lang="en-IN" sz="2000" dirty="0"/>
              <a:t> Allow users to upload research papers, PDFs, and documents for automatic summarization and analysis.</a:t>
            </a:r>
          </a:p>
          <a:p>
            <a:pPr lvl="0">
              <a:buClr>
                <a:srgbClr val="2B3541"/>
              </a:buClr>
              <a:buSzPts val="1850"/>
            </a:pPr>
            <a:endParaRPr lang="en-IN" sz="2000" dirty="0"/>
          </a:p>
          <a:p>
            <a:pPr marL="342900" lvl="0" indent="-342900"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r>
              <a:rPr lang="en-IN" sz="2000" dirty="0"/>
              <a:t> </a:t>
            </a:r>
            <a:r>
              <a:rPr lang="en-IN" sz="2000" b="1" dirty="0"/>
              <a:t>Real-Time Literature Search:</a:t>
            </a:r>
            <a:r>
              <a:rPr lang="en-IN" sz="2000" dirty="0"/>
              <a:t> Integrate with platforms like Google Scholar, PubMed, Semantic Scholar, or Cross Reference to retrieve the latest research papers. </a:t>
            </a:r>
          </a:p>
          <a:p>
            <a:pPr lvl="0">
              <a:buClr>
                <a:srgbClr val="2B3541"/>
              </a:buClr>
              <a:buSzPts val="1850"/>
            </a:pPr>
            <a:endParaRPr lang="en-IN" sz="2000" dirty="0"/>
          </a:p>
          <a:p>
            <a:pPr marL="342900" lvl="0" indent="-342900"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r>
              <a:rPr lang="en-IN" sz="2000" b="1" dirty="0"/>
              <a:t>Reference Management:</a:t>
            </a:r>
            <a:r>
              <a:rPr lang="en-IN" sz="2000" dirty="0"/>
              <a:t> Enable exporting citations directly to tools such as Zotero, Mendeley, and EndNote. </a:t>
            </a:r>
          </a:p>
          <a:p>
            <a:pPr lvl="0">
              <a:buClr>
                <a:srgbClr val="2B3541"/>
              </a:buClr>
              <a:buSzPts val="1850"/>
            </a:pPr>
            <a:endParaRPr lang="en-IN" sz="2000" dirty="0"/>
          </a:p>
          <a:p>
            <a:pPr marL="342900" lvl="0" indent="-342900"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r>
              <a:rPr lang="en-IN" sz="2000" b="1" dirty="0"/>
              <a:t>Multi-Language Support:</a:t>
            </a:r>
            <a:r>
              <a:rPr lang="en-IN" sz="2000" dirty="0"/>
              <a:t> Support research assistance in multiple languages to help users worldwide.</a:t>
            </a:r>
          </a:p>
          <a:p>
            <a:pPr lvl="0">
              <a:buClr>
                <a:srgbClr val="2B3541"/>
              </a:buClr>
              <a:buSzPts val="1850"/>
            </a:pPr>
            <a:endParaRPr lang="en-IN" sz="2000" dirty="0"/>
          </a:p>
          <a:p>
            <a:pPr marL="342900" lvl="0" indent="-342900"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r>
              <a:rPr lang="en-IN" sz="2000" dirty="0"/>
              <a:t> </a:t>
            </a:r>
            <a:r>
              <a:rPr lang="en-IN" sz="2000" b="1" dirty="0"/>
              <a:t>Collaboration Features:</a:t>
            </a:r>
            <a:r>
              <a:rPr lang="en-IN" sz="2000" dirty="0"/>
              <a:t> Allow multiple researchers to collaborate on projects, share notes, and manage citations together.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3"/>
          <p:cNvSpPr txBox="1"/>
          <p:nvPr/>
        </p:nvSpPr>
        <p:spPr>
          <a:xfrm>
            <a:off x="1708693" y="215359"/>
            <a:ext cx="6096000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Certificates Earned: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378616-FFA1-F54E-FCBB-44ADE6E539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0921" y="1042034"/>
            <a:ext cx="6810158" cy="528764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>
          <a:extLst>
            <a:ext uri="{FF2B5EF4-FFF2-40B4-BE49-F238E27FC236}">
              <a16:creationId xmlns:a16="http://schemas.microsoft.com/office/drawing/2014/main" id="{080E24BB-C71C-6BDF-0FD7-8A4C1ED2E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3">
            <a:extLst>
              <a:ext uri="{FF2B5EF4-FFF2-40B4-BE49-F238E27FC236}">
                <a16:creationId xmlns:a16="http://schemas.microsoft.com/office/drawing/2014/main" id="{E74CD447-9D03-E42B-32AE-87E7F15D03AB}"/>
              </a:ext>
            </a:extLst>
          </p:cNvPr>
          <p:cNvSpPr txBox="1"/>
          <p:nvPr/>
        </p:nvSpPr>
        <p:spPr>
          <a:xfrm>
            <a:off x="1708693" y="215359"/>
            <a:ext cx="6096000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Certificates Earned: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4DDE144-4365-49C1-D662-3608A4314A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5440" y="1077606"/>
            <a:ext cx="6841120" cy="5313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6437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>
          <a:extLst>
            <a:ext uri="{FF2B5EF4-FFF2-40B4-BE49-F238E27FC236}">
              <a16:creationId xmlns:a16="http://schemas.microsoft.com/office/drawing/2014/main" id="{8C4442CC-B3DB-7792-4984-776F7E17B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4">
            <a:extLst>
              <a:ext uri="{FF2B5EF4-FFF2-40B4-BE49-F238E27FC236}">
                <a16:creationId xmlns:a16="http://schemas.microsoft.com/office/drawing/2014/main" id="{3F703958-6C38-0711-6968-31CC69BAB79C}"/>
              </a:ext>
            </a:extLst>
          </p:cNvPr>
          <p:cNvSpPr txBox="1"/>
          <p:nvPr/>
        </p:nvSpPr>
        <p:spPr>
          <a:xfrm>
            <a:off x="1694600" y="205888"/>
            <a:ext cx="6096000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Certificates Earned: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​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C4BF57-E444-D7BA-3476-7627BF6088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1058" y="982743"/>
            <a:ext cx="6869885" cy="53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0991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>
          <a:extLst>
            <a:ext uri="{FF2B5EF4-FFF2-40B4-BE49-F238E27FC236}">
              <a16:creationId xmlns:a16="http://schemas.microsoft.com/office/drawing/2014/main" id="{8CEEE2C5-65B8-78AA-54AE-B1A87ED14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4">
            <a:extLst>
              <a:ext uri="{FF2B5EF4-FFF2-40B4-BE49-F238E27FC236}">
                <a16:creationId xmlns:a16="http://schemas.microsoft.com/office/drawing/2014/main" id="{389144FF-C628-A3C1-FE8A-6AEB3CE7DF2A}"/>
              </a:ext>
            </a:extLst>
          </p:cNvPr>
          <p:cNvSpPr txBox="1"/>
          <p:nvPr/>
        </p:nvSpPr>
        <p:spPr>
          <a:xfrm>
            <a:off x="1694600" y="205888"/>
            <a:ext cx="6096000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Certificates Earned: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​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0D5BDD7-9834-2964-E40C-0471E03D01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4081" y="1088173"/>
            <a:ext cx="8055038" cy="5006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9384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>
          <a:extLst>
            <a:ext uri="{FF2B5EF4-FFF2-40B4-BE49-F238E27FC236}">
              <a16:creationId xmlns:a16="http://schemas.microsoft.com/office/drawing/2014/main" id="{6787BEA2-8295-DAFF-9DE2-7E1B34AFC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4">
            <a:extLst>
              <a:ext uri="{FF2B5EF4-FFF2-40B4-BE49-F238E27FC236}">
                <a16:creationId xmlns:a16="http://schemas.microsoft.com/office/drawing/2014/main" id="{B8EAF010-4426-B54D-F622-D7B86D64781D}"/>
              </a:ext>
            </a:extLst>
          </p:cNvPr>
          <p:cNvSpPr txBox="1"/>
          <p:nvPr/>
        </p:nvSpPr>
        <p:spPr>
          <a:xfrm>
            <a:off x="1694600" y="205888"/>
            <a:ext cx="6096000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Certificates Earned: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​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4FF0B7-3FFA-5DD5-F607-AFFE9BB16B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5053" y="965200"/>
            <a:ext cx="8056800" cy="5074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8914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4"/>
          <p:cNvSpPr txBox="1"/>
          <p:nvPr/>
        </p:nvSpPr>
        <p:spPr>
          <a:xfrm>
            <a:off x="1694600" y="205888"/>
            <a:ext cx="6096000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Certificates Earned: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​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908E1B-B282-4E62-5E0D-AB964FE7EC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5041" y="1098333"/>
            <a:ext cx="8055038" cy="500677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11</TotalTime>
  <Words>571</Words>
  <Application>Microsoft Office PowerPoint</Application>
  <PresentationFormat>Widescreen</PresentationFormat>
  <Paragraphs>65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Corbel</vt:lpstr>
      <vt:lpstr>Times New Roman</vt:lpstr>
      <vt:lpstr>Parallax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Manda Anirudh</dc:creator>
  <cp:lastModifiedBy>Jasjot Singh</cp:lastModifiedBy>
  <cp:revision>2</cp:revision>
  <dcterms:created xsi:type="dcterms:W3CDTF">2025-07-08T05:06:56Z</dcterms:created>
  <dcterms:modified xsi:type="dcterms:W3CDTF">2026-07-15T13:30:59Z</dcterms:modified>
</cp:coreProperties>
</file>